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664200" cx="10071100"/>
  <p:notesSz cx="6858000" cy="9144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Cinzel"/>
      <p:regular r:id="rId28"/>
      <p:bold r:id="rId29"/>
    </p:embeddedFont>
    <p:embeddedFont>
      <p:font typeface="Roboto Mono"/>
      <p:regular r:id="rId30"/>
      <p:bold r:id="rId31"/>
      <p:italic r:id="rId32"/>
      <p:boldItalic r:id="rId33"/>
    </p:embeddedFont>
    <p:embeddedFont>
      <p:font typeface="Comfortaa Medium"/>
      <p:regular r:id="rId34"/>
      <p:bold r:id="rId35"/>
    </p:embeddedFont>
    <p:embeddedFont>
      <p:font typeface="Comfortaa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hzCqVaZoo96TkWMaQ/7pgUBLVr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Cinzel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inzel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35" Type="http://schemas.openxmlformats.org/officeDocument/2006/relationships/font" Target="fonts/ComfortaaMedium-bold.fntdata"/><Relationship Id="rId12" Type="http://schemas.openxmlformats.org/officeDocument/2006/relationships/slide" Target="slides/slide7.xml"/><Relationship Id="rId34" Type="http://schemas.openxmlformats.org/officeDocument/2006/relationships/font" Target="fonts/ComfortaaMedium-regular.fntdata"/><Relationship Id="rId15" Type="http://schemas.openxmlformats.org/officeDocument/2006/relationships/slide" Target="slides/slide10.xml"/><Relationship Id="rId37" Type="http://schemas.openxmlformats.org/officeDocument/2006/relationships/font" Target="fonts/Comfortaa-bold.fntdata"/><Relationship Id="rId14" Type="http://schemas.openxmlformats.org/officeDocument/2006/relationships/slide" Target="slides/slide9.xml"/><Relationship Id="rId36" Type="http://schemas.openxmlformats.org/officeDocument/2006/relationships/font" Target="fonts/Comfortaa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39b10294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a39b1029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6acff8a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a6acff8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a6acff8a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a6acff8a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a6acff8a6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a6acff8a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a6acff8a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a6acff8a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6acff8a6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a6acff8a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a6acff8a6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a6acff8a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a6acff8a6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a6acff8a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a6acff8a6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a6acff8a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6acff8a6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a6acff8a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6acff8a6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a6acff8a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a6acff8a6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a6acff8a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a6acff8a6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a6acff8a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6acff8a6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a6acff8a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6acff8a6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a6acff8a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a6acff8a6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a6acff8a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b2f49fb6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b2f49fb6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39b102941_1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a39b102941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b47a2659c2_0_87"/>
          <p:cNvSpPr txBox="1"/>
          <p:nvPr>
            <p:ph type="ctrTitle"/>
          </p:nvPr>
        </p:nvSpPr>
        <p:spPr>
          <a:xfrm>
            <a:off x="343312" y="819952"/>
            <a:ext cx="9384600" cy="22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11" name="Google Shape;11;g2b47a2659c2_0_87"/>
          <p:cNvSpPr txBox="1"/>
          <p:nvPr>
            <p:ph idx="1" type="subTitle"/>
          </p:nvPr>
        </p:nvSpPr>
        <p:spPr>
          <a:xfrm>
            <a:off x="343303" y="3121036"/>
            <a:ext cx="9384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/>
        </p:txBody>
      </p:sp>
      <p:sp>
        <p:nvSpPr>
          <p:cNvPr id="12" name="Google Shape;12;g2b47a2659c2_0_87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b47a2659c2_0_91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5" name="Google Shape;15;g2b47a2659c2_0_91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2b47a2659c2_0_94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" name="Google Shape;18;g2b47a2659c2_0_94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9" name="Google Shape;19;g2b47a2659c2_0_94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 1">
  <p:cSld name="BLANK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b47a2659c2_0_150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b47a2659c2_0_9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" name="Google Shape;24;g2b47a2659c2_0_98"/>
          <p:cNvSpPr txBox="1"/>
          <p:nvPr>
            <p:ph idx="1" type="body"/>
          </p:nvPr>
        </p:nvSpPr>
        <p:spPr>
          <a:xfrm>
            <a:off x="343303" y="1269145"/>
            <a:ext cx="44055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5" name="Google Shape;25;g2b47a2659c2_0_98"/>
          <p:cNvSpPr txBox="1"/>
          <p:nvPr>
            <p:ph idx="2" type="body"/>
          </p:nvPr>
        </p:nvSpPr>
        <p:spPr>
          <a:xfrm>
            <a:off x="5322352" y="1269145"/>
            <a:ext cx="44055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6" name="Google Shape;26;g2b47a2659c2_0_98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b47a2659c2_0_106"/>
          <p:cNvSpPr txBox="1"/>
          <p:nvPr>
            <p:ph type="title"/>
          </p:nvPr>
        </p:nvSpPr>
        <p:spPr>
          <a:xfrm>
            <a:off x="343303" y="611846"/>
            <a:ext cx="30927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g2b47a2659c2_0_106"/>
          <p:cNvSpPr txBox="1"/>
          <p:nvPr>
            <p:ph idx="1" type="body"/>
          </p:nvPr>
        </p:nvSpPr>
        <p:spPr>
          <a:xfrm>
            <a:off x="343303" y="1530276"/>
            <a:ext cx="3092700" cy="3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0" name="Google Shape;30;g2b47a2659c2_0_106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b47a2659c2_0_126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g2b47a2659c2_0_128"/>
          <p:cNvPicPr preferRelativeResize="0"/>
          <p:nvPr/>
        </p:nvPicPr>
        <p:blipFill rotWithShape="1">
          <a:blip r:embed="rId2">
            <a:alphaModFix/>
          </a:blip>
          <a:srcRect b="0" l="49" r="39" t="0"/>
          <a:stretch/>
        </p:blipFill>
        <p:spPr>
          <a:xfrm>
            <a:off x="-27825" y="-18687"/>
            <a:ext cx="10126752" cy="570157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g2b47a2659c2_0_128"/>
          <p:cNvSpPr txBox="1"/>
          <p:nvPr>
            <p:ph idx="12" type="sldNum"/>
          </p:nvPr>
        </p:nvSpPr>
        <p:spPr>
          <a:xfrm>
            <a:off x="9081593" y="5263645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b47a2659c2_0_16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g2b47a2659c2_0_16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g2b47a2659c2_0_16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" name="Google Shape;40;g2b47a2659c2_0_1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0163" y="-28612"/>
            <a:ext cx="10171426" cy="572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- Padrão">
  <p:cSld name="TITLE_AND_TWO_COLUMNS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b47a2659c2_0_131"/>
          <p:cNvSpPr txBox="1"/>
          <p:nvPr>
            <p:ph idx="12" type="sldNum"/>
          </p:nvPr>
        </p:nvSpPr>
        <p:spPr>
          <a:xfrm>
            <a:off x="9103915" y="5317504"/>
            <a:ext cx="6042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g2b47a2659c2_0_131"/>
          <p:cNvSpPr txBox="1"/>
          <p:nvPr/>
        </p:nvSpPr>
        <p:spPr>
          <a:xfrm>
            <a:off x="689167" y="101616"/>
            <a:ext cx="89550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inzel"/>
                <a:ea typeface="Cinzel"/>
                <a:cs typeface="Cinzel"/>
                <a:sym typeface="Cinzel"/>
              </a:rPr>
              <a:t>Marketing digital | Redes sociais básico</a:t>
            </a:r>
            <a:endParaRPr b="0" i="0" sz="1100" u="none" cap="none" strike="noStrike">
              <a:solidFill>
                <a:srgbClr val="666666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b47a2659c2_0_10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6" name="Google Shape;46;g2b47a2659c2_0_103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b47a2659c2_0_110"/>
          <p:cNvSpPr txBox="1"/>
          <p:nvPr>
            <p:ph type="title"/>
          </p:nvPr>
        </p:nvSpPr>
        <p:spPr>
          <a:xfrm>
            <a:off x="539956" y="495721"/>
            <a:ext cx="7013400" cy="45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49" name="Google Shape;49;g2b47a2659c2_0_110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b47a2659c2_0_113"/>
          <p:cNvSpPr/>
          <p:nvPr/>
        </p:nvSpPr>
        <p:spPr>
          <a:xfrm>
            <a:off x="5035550" y="28"/>
            <a:ext cx="5035500" cy="566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2b47a2659c2_0_113"/>
          <p:cNvSpPr txBox="1"/>
          <p:nvPr>
            <p:ph type="title"/>
          </p:nvPr>
        </p:nvSpPr>
        <p:spPr>
          <a:xfrm>
            <a:off x="292419" y="1358015"/>
            <a:ext cx="4455300" cy="16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53" name="Google Shape;53;g2b47a2659c2_0_113"/>
          <p:cNvSpPr txBox="1"/>
          <p:nvPr>
            <p:ph idx="1" type="subTitle"/>
          </p:nvPr>
        </p:nvSpPr>
        <p:spPr>
          <a:xfrm>
            <a:off x="292419" y="3086843"/>
            <a:ext cx="4455300" cy="13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54" name="Google Shape;54;g2b47a2659c2_0_113"/>
          <p:cNvSpPr txBox="1"/>
          <p:nvPr>
            <p:ph idx="2" type="body"/>
          </p:nvPr>
        </p:nvSpPr>
        <p:spPr>
          <a:xfrm>
            <a:off x="5440310" y="797514"/>
            <a:ext cx="4226100" cy="40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>
                <a:solidFill>
                  <a:schemeClr val="dk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g2b47a2659c2_0_113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47a2659c2_0_119"/>
          <p:cNvSpPr txBox="1"/>
          <p:nvPr>
            <p:ph idx="1" type="body"/>
          </p:nvPr>
        </p:nvSpPr>
        <p:spPr>
          <a:xfrm>
            <a:off x="343303" y="4658855"/>
            <a:ext cx="66069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58" name="Google Shape;58;g2b47a2659c2_0_119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b47a2659c2_0_122"/>
          <p:cNvSpPr txBox="1"/>
          <p:nvPr>
            <p:ph hasCustomPrompt="1" type="title"/>
          </p:nvPr>
        </p:nvSpPr>
        <p:spPr>
          <a:xfrm>
            <a:off x="343303" y="1218103"/>
            <a:ext cx="9384600" cy="216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9pPr>
          </a:lstStyle>
          <a:p>
            <a:r>
              <a:t>xx%</a:t>
            </a:r>
          </a:p>
        </p:txBody>
      </p:sp>
      <p:sp>
        <p:nvSpPr>
          <p:cNvPr id="61" name="Google Shape;61;g2b47a2659c2_0_122"/>
          <p:cNvSpPr txBox="1"/>
          <p:nvPr>
            <p:ph idx="1" type="body"/>
          </p:nvPr>
        </p:nvSpPr>
        <p:spPr>
          <a:xfrm>
            <a:off x="343303" y="3471339"/>
            <a:ext cx="93846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55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2" name="Google Shape;62;g2b47a2659c2_0_122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2b47a2659c2_0_152"/>
          <p:cNvPicPr preferRelativeResize="0"/>
          <p:nvPr/>
        </p:nvPicPr>
        <p:blipFill rotWithShape="1">
          <a:blip r:embed="rId2">
            <a:alphaModFix/>
          </a:blip>
          <a:srcRect b="0" l="49" r="39" t="0"/>
          <a:stretch/>
        </p:blipFill>
        <p:spPr>
          <a:xfrm>
            <a:off x="-27825" y="-18687"/>
            <a:ext cx="10126752" cy="570157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2b47a2659c2_0_152"/>
          <p:cNvSpPr txBox="1"/>
          <p:nvPr>
            <p:ph idx="12" type="sldNum"/>
          </p:nvPr>
        </p:nvSpPr>
        <p:spPr>
          <a:xfrm>
            <a:off x="9081593" y="5263645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47a2659c2_0_15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g2b47a2659c2_0_15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g2b47a2659c2_0_15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" name="Google Shape;70;g2b47a2659c2_0_1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2438" y="-24275"/>
            <a:ext cx="10155974" cy="571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b47a2659c2_0_8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2b47a2659c2_0_83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2b47a2659c2_0_83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y.telegram.org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hyperlink" Target="mailto:bernardocmfgomes@gmail.com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39b102941_0_0"/>
          <p:cNvSpPr txBox="1"/>
          <p:nvPr>
            <p:ph type="ctrTitle"/>
          </p:nvPr>
        </p:nvSpPr>
        <p:spPr>
          <a:xfrm>
            <a:off x="343312" y="819952"/>
            <a:ext cx="9384600" cy="22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4330">
                <a:latin typeface="Comfortaa"/>
                <a:ea typeface="Comfortaa"/>
                <a:cs typeface="Comfortaa"/>
                <a:sym typeface="Comfortaa"/>
              </a:rPr>
              <a:t>Criando seu primeiro bot para o telegram utilizando python</a:t>
            </a:r>
            <a:endParaRPr sz="433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6" name="Google Shape;76;g3a39b102941_0_0"/>
          <p:cNvSpPr txBox="1"/>
          <p:nvPr>
            <p:ph idx="1" type="subTitle"/>
          </p:nvPr>
        </p:nvSpPr>
        <p:spPr>
          <a:xfrm>
            <a:off x="343303" y="3121036"/>
            <a:ext cx="9384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 sz="2300">
                <a:latin typeface="Comfortaa"/>
                <a:ea typeface="Comfortaa"/>
                <a:cs typeface="Comfortaa"/>
                <a:sym typeface="Comfortaa"/>
              </a:rPr>
              <a:t>Ministrante: Bernardo de Castro Monteiro Franco Gomes</a:t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6acff8a6_0_0"/>
          <p:cNvSpPr txBox="1"/>
          <p:nvPr/>
        </p:nvSpPr>
        <p:spPr>
          <a:xfrm>
            <a:off x="4572000" y="659650"/>
            <a:ext cx="50379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Sobre mim:</a:t>
            </a:r>
            <a:endParaRPr sz="2600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82" name="Google Shape;82;g39a6acff8a6_0_0"/>
          <p:cNvSpPr txBox="1"/>
          <p:nvPr/>
        </p:nvSpPr>
        <p:spPr>
          <a:xfrm>
            <a:off x="4572000" y="1362250"/>
            <a:ext cx="5037900" cy="3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Graduando em Ciência da Computação - UFSJ</a:t>
            </a:r>
            <a:endParaRPr sz="11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2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Possuo 19 anos</a:t>
            </a:r>
            <a:endParaRPr sz="12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1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Dou aulas de Desenvolvimento Full-Stack e Aprendizado de Máquina</a:t>
            </a:r>
            <a:endParaRPr sz="11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1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Desenvolvo projetos, minicursos e palestras para feiras de tecnologia e para faculdade</a:t>
            </a:r>
            <a:endParaRPr sz="11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	</a:t>
            </a:r>
            <a:r>
              <a:rPr lang="en-US" sz="24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1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Projeto: CommentSentimentAPI</a:t>
            </a:r>
            <a:endParaRPr sz="11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	</a:t>
            </a:r>
            <a:r>
              <a:rPr lang="en-US" sz="24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1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Projeto: Orenta.IA</a:t>
            </a:r>
            <a:endParaRPr sz="11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	</a:t>
            </a:r>
            <a:r>
              <a:rPr lang="en-US" sz="24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1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Minicurso: Criando sua primeira análise de sentimentos utilizando técnicas NLP e LLMs</a:t>
            </a:r>
            <a:endParaRPr sz="11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1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Trabalho como freelancer em projetos relacionados com Aprendizado de Máquina e Jogos (Ex: Minecraft)</a:t>
            </a:r>
            <a:endParaRPr sz="13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3" name="Google Shape;83;g39a6acff8a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675" y="659650"/>
            <a:ext cx="4197325" cy="45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a6acff8a6_0_16"/>
          <p:cNvSpPr txBox="1"/>
          <p:nvPr>
            <p:ph type="title"/>
          </p:nvPr>
        </p:nvSpPr>
        <p:spPr>
          <a:xfrm>
            <a:off x="343302" y="490075"/>
            <a:ext cx="44055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490">
                <a:latin typeface="Cinzel"/>
                <a:ea typeface="Cinzel"/>
                <a:cs typeface="Cinzel"/>
                <a:sym typeface="Cinzel"/>
              </a:rPr>
              <a:t>O que vamos fazer hoje?</a:t>
            </a:r>
            <a:endParaRPr sz="24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89" name="Google Shape;89;g39a6acff8a6_0_16"/>
          <p:cNvSpPr txBox="1"/>
          <p:nvPr>
            <p:ph idx="1" type="body"/>
          </p:nvPr>
        </p:nvSpPr>
        <p:spPr>
          <a:xfrm>
            <a:off x="343303" y="1269145"/>
            <a:ext cx="44055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 sz="2000">
                <a:latin typeface="Comfortaa"/>
                <a:ea typeface="Comfortaa"/>
                <a:cs typeface="Comfortaa"/>
                <a:sym typeface="Comfortaa"/>
              </a:rPr>
              <a:t>Criar um bot no telegram</a:t>
            </a:r>
            <a:endParaRPr sz="2000"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 sz="2000">
                <a:latin typeface="Comfortaa"/>
                <a:ea typeface="Comfortaa"/>
                <a:cs typeface="Comfortaa"/>
                <a:sym typeface="Comfortaa"/>
              </a:rPr>
              <a:t>Trabalhar com múltiplos comandos</a:t>
            </a:r>
            <a:endParaRPr sz="2000"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 sz="2000">
                <a:latin typeface="Comfortaa"/>
                <a:ea typeface="Comfortaa"/>
                <a:cs typeface="Comfortaa"/>
                <a:sym typeface="Comfortaa"/>
              </a:rPr>
              <a:t>Integrar APIs externas</a:t>
            </a:r>
            <a:endParaRPr sz="2000"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 sz="2000">
                <a:latin typeface="Comfortaa"/>
                <a:ea typeface="Comfortaa"/>
                <a:cs typeface="Comfortaa"/>
                <a:sym typeface="Comfortaa"/>
              </a:rPr>
              <a:t>Pensar como sistema (não somente um script)</a:t>
            </a:r>
            <a:endParaRPr sz="20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0" name="Google Shape;90;g39a6acff8a6_0_16"/>
          <p:cNvSpPr txBox="1"/>
          <p:nvPr>
            <p:ph idx="2" type="body"/>
          </p:nvPr>
        </p:nvSpPr>
        <p:spPr>
          <a:xfrm>
            <a:off x="5322352" y="1269145"/>
            <a:ext cx="44055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 sz="2000">
                <a:latin typeface="Comfortaa"/>
                <a:ea typeface="Comfortaa"/>
                <a:cs typeface="Comfortaa"/>
                <a:sym typeface="Comfortaa"/>
              </a:rPr>
              <a:t>Automação de tarefas</a:t>
            </a:r>
            <a:endParaRPr sz="2000"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 sz="2000">
                <a:latin typeface="Comfortaa"/>
                <a:ea typeface="Comfortaa"/>
                <a:cs typeface="Comfortaa"/>
                <a:sym typeface="Comfortaa"/>
              </a:rPr>
              <a:t>Atendimento</a:t>
            </a:r>
            <a:endParaRPr sz="2000"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 sz="2000">
                <a:latin typeface="Comfortaa"/>
                <a:ea typeface="Comfortaa"/>
                <a:cs typeface="Comfortaa"/>
                <a:sym typeface="Comfortaa"/>
              </a:rPr>
              <a:t>Integração com sistemas</a:t>
            </a:r>
            <a:endParaRPr sz="2000"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 sz="2000">
                <a:latin typeface="Comfortaa"/>
                <a:ea typeface="Comfortaa"/>
                <a:cs typeface="Comfortaa"/>
                <a:sym typeface="Comfortaa"/>
              </a:rPr>
              <a:t>Casos reais:</a:t>
            </a:r>
            <a:endParaRPr sz="20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Suporte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Notificações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Trade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Fintechs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Logs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1" name="Google Shape;91;g39a6acff8a6_0_16"/>
          <p:cNvSpPr txBox="1"/>
          <p:nvPr>
            <p:ph type="title"/>
          </p:nvPr>
        </p:nvSpPr>
        <p:spPr>
          <a:xfrm>
            <a:off x="5269627" y="490075"/>
            <a:ext cx="44055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inzel"/>
                <a:ea typeface="Cinzel"/>
                <a:cs typeface="Cinzel"/>
                <a:sym typeface="Cinzel"/>
              </a:rPr>
              <a:t>Por que bots?</a:t>
            </a:r>
            <a:endParaRPr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a6acff8a6_0_2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Telegram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Funcionamento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9a6acff8a6_0_23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Cliente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/\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|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\/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Servidor do Telegram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/\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|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\/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Bot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a6acff8a6_0_2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Telegram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Bot API x MTProto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9a6acff8a6_0_28"/>
          <p:cNvSpPr txBox="1"/>
          <p:nvPr>
            <p:ph idx="1" type="body"/>
          </p:nvPr>
        </p:nvSpPr>
        <p:spPr>
          <a:xfrm>
            <a:off x="343300" y="1269147"/>
            <a:ext cx="4405500" cy="1335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Mais simples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HTTP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Limitado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4" name="Google Shape;104;g39a6acff8a6_0_28"/>
          <p:cNvSpPr txBox="1"/>
          <p:nvPr>
            <p:ph idx="4294967295" type="body"/>
          </p:nvPr>
        </p:nvSpPr>
        <p:spPr>
          <a:xfrm>
            <a:off x="5322350" y="1269147"/>
            <a:ext cx="4405500" cy="1335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Mais completo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Protocolo próprio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Poder total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" name="Google Shape;105;g39a6acff8a6_0_28"/>
          <p:cNvSpPr txBox="1"/>
          <p:nvPr>
            <p:ph type="title"/>
          </p:nvPr>
        </p:nvSpPr>
        <p:spPr>
          <a:xfrm>
            <a:off x="376528" y="2604452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Telegram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O que é MTProto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9a6acff8a6_0_28"/>
          <p:cNvSpPr txBox="1"/>
          <p:nvPr>
            <p:ph idx="1" type="body"/>
          </p:nvPr>
        </p:nvSpPr>
        <p:spPr>
          <a:xfrm>
            <a:off x="343300" y="3428997"/>
            <a:ext cx="9384600" cy="1602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Protocolo de criptografia para garantir segurança, privacidade e alta velocidade nas mensagens, tanto em conversas na nuvem quanto em chats secretos. Utiliza de algoritmos modernos (como AES-256) para proteger a troca de dados.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6acff8a6_0_4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Telegram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Onde entra o Pyrogram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9a6acff8a6_0_4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Biblioteca python para criar código dos bots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Abstrai o protocolo MTProto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Suporte a bots e userbots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Baseado em eventos (Handlers)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Bots: Contas especiais criadas a partir do @BotFather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Userbots: São contas normais de usuários (Sim nossa conta de telegram pode virar um bot)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a6acff8a6_0_4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Telegram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Por que Pyrogram?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9a6acff8a6_0_4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Controle de comportamento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Flexível para projetos maiores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Ideal para bots mais complexos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Se o que desejamos é um bot mais simples, existem opções muito  melhores como o python-telegram-bot. A ideia aqui é aquela mesma ideia da discussão entre: Flask X Django X FastAPI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a6acff8a6_0_55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inzel"/>
                <a:ea typeface="Cinzel"/>
                <a:cs typeface="Cinzel"/>
                <a:sym typeface="Cinzel"/>
              </a:rPr>
              <a:t>Implementação</a:t>
            </a:r>
            <a:endParaRPr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a6acff8a6_0_59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Implementação</a:t>
            </a: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Coisas que precisamos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9a6acff8a6_0_59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AutoNum type="arabi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Ir no @BotFather e dar o comando /newbot e registrar nosso bot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AutoNum type="arabi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Ir em </a:t>
            </a:r>
            <a:r>
              <a:rPr lang="en-US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https://my.telegram.org/</a:t>
            </a: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 e realizar os seguintes passos: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23850" lvl="1" marL="1371600" rtl="0" algn="ctr">
              <a:spcBef>
                <a:spcPts val="0"/>
              </a:spcBef>
              <a:spcAft>
                <a:spcPts val="0"/>
              </a:spcAft>
              <a:buSzPts val="1500"/>
              <a:buFont typeface="Comfortaa"/>
              <a:buAutoNum type="alphaL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Fazer login o número de telefone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23850" lvl="1" marL="1371600" rtl="0" algn="ctr">
              <a:spcBef>
                <a:spcPts val="0"/>
              </a:spcBef>
              <a:spcAft>
                <a:spcPts val="0"/>
              </a:spcAft>
              <a:buSzPts val="1500"/>
              <a:buFont typeface="Comfortaa"/>
              <a:buAutoNum type="alphaL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Clicar em API development tools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23850" lvl="1" marL="1371600" rtl="0" algn="ctr">
              <a:spcBef>
                <a:spcPts val="0"/>
              </a:spcBef>
              <a:spcAft>
                <a:spcPts val="0"/>
              </a:spcAft>
              <a:buSzPts val="1500"/>
              <a:buFont typeface="Comfortaa"/>
              <a:buAutoNum type="alphaL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Criar uma aplicação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a6acff8a6_0_6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Fluxo e Contexto</a:t>
            </a: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O problema do Contexto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9a6acff8a6_0_6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Usuário envia múltiplas mensagens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Cada mensagem é um novo evento, ou seja, chega de maneira independente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O bot não “lembra” automaticamente do passado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Fluxos interativos dependem de contexto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a6acff8a6_0_7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Fluxo e Contexto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Gerenciando Estados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9a6acff8a6_0_7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Dicionário em memória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ID do usuário como chave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Armazenar progresso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Para entendermos o gerenciamento de estados é importante entender o que é um evento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Quais banco de dados são possíveis de serem implementados para melhoria do sistema de estados?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a6acff8a6_0_7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Fluxo e Contexto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FLuxo de Interação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a6acff8a6_0_7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Pergunta x Resposta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Validação de dados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Próxima etapa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Vamos utilizar um fluxo de interação para “arrumar a casa”, agora o bot vai começar a “pensar”. Vamos utilizar o seguinte decorator: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@app.on_message(filters.text)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6acff8a6_0_81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Boas práticas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Boas práticas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a6acff8a6_0_81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AutoNum type="arabi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Código Limpo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23850" lvl="1" marL="914400" rtl="0" algn="ctr">
              <a:spcBef>
                <a:spcPts val="0"/>
              </a:spcBef>
              <a:spcAft>
                <a:spcPts val="0"/>
              </a:spcAft>
              <a:buSzPts val="1500"/>
              <a:buFont typeface="Comfortaa"/>
              <a:buAutoNum type="alphaL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Fácil de Ler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23850" lvl="1" marL="914400" rtl="0" algn="ctr">
              <a:spcBef>
                <a:spcPts val="0"/>
              </a:spcBef>
              <a:spcAft>
                <a:spcPts val="0"/>
              </a:spcAft>
              <a:buSzPts val="1500"/>
              <a:buFont typeface="Comfortaa"/>
              <a:buAutoNum type="alphaL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Fácil de Entender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23850" lvl="1" marL="914400" rtl="0" algn="ctr">
              <a:spcBef>
                <a:spcPts val="0"/>
              </a:spcBef>
              <a:spcAft>
                <a:spcPts val="0"/>
              </a:spcAft>
              <a:buSzPts val="1500"/>
              <a:buFont typeface="Comfortaa"/>
              <a:buAutoNum type="alphaL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Sem complexidade desnecessária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AutoNum type="arabicPeriod"/>
            </a:pPr>
            <a:r>
              <a:rPr lang="en-US" sz="1500">
                <a:latin typeface="Comfortaa"/>
                <a:ea typeface="Comfortaa"/>
                <a:cs typeface="Comfortaa"/>
                <a:sym typeface="Comfortaa"/>
              </a:rPr>
              <a:t>Organização</a:t>
            </a:r>
            <a:endParaRPr sz="1500">
              <a:latin typeface="Comfortaa"/>
              <a:ea typeface="Comfortaa"/>
              <a:cs typeface="Comfortaa"/>
              <a:sym typeface="Comfortaa"/>
            </a:endParaRPr>
          </a:p>
          <a:p>
            <a:pPr indent="-323850" lvl="1" marL="914400" rtl="0" algn="ctr">
              <a:spcBef>
                <a:spcPts val="0"/>
              </a:spcBef>
              <a:spcAft>
                <a:spcPts val="0"/>
              </a:spcAft>
              <a:buSzPts val="1500"/>
              <a:buFont typeface="Comfortaa"/>
              <a:buAutoNum type="alphaL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Separa responsabilidades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23850" lvl="1" marL="914400" rtl="0" algn="ctr">
              <a:spcBef>
                <a:spcPts val="0"/>
              </a:spcBef>
              <a:spcAft>
                <a:spcPts val="0"/>
              </a:spcAft>
              <a:buSzPts val="1500"/>
              <a:buFont typeface="Comfortaa"/>
              <a:buAutoNum type="alphaL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Evitar arquivos gigantes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23850" lvl="1" marL="914400" rtl="0" algn="ctr">
              <a:spcBef>
                <a:spcPts val="0"/>
              </a:spcBef>
              <a:spcAft>
                <a:spcPts val="0"/>
              </a:spcAft>
              <a:buSzPts val="1500"/>
              <a:buFont typeface="Comfortaa"/>
              <a:buAutoNum type="alphaL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Estruturar o projeto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AutoNum type="arabi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Manutenção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23850" lvl="1" marL="914400" rtl="0" algn="ctr">
              <a:spcBef>
                <a:spcPts val="0"/>
              </a:spcBef>
              <a:spcAft>
                <a:spcPts val="0"/>
              </a:spcAft>
              <a:buSzPts val="1500"/>
              <a:buFont typeface="Comfortaa"/>
              <a:buAutoNum type="alphaL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Facilidade de alterar o código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23850" lvl="1" marL="914400" rtl="0" algn="ctr">
              <a:spcBef>
                <a:spcPts val="0"/>
              </a:spcBef>
              <a:spcAft>
                <a:spcPts val="0"/>
              </a:spcAft>
              <a:buSzPts val="1500"/>
              <a:buFont typeface="Comfortaa"/>
              <a:buAutoNum type="alphaL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Facilidade de adicionar funcionalidades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23850" lvl="1" marL="914400" rtl="0" algn="ctr">
              <a:spcBef>
                <a:spcPts val="0"/>
              </a:spcBef>
              <a:spcAft>
                <a:spcPts val="0"/>
              </a:spcAft>
              <a:buSzPts val="1500"/>
              <a:buFont typeface="Comfortaa"/>
              <a:buAutoNum type="alphaLcPeriod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Menos riscos de quebrar o sistema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a6acff8a6_0_111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Boas práticas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Polling x Webhook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9a6acff8a6_0_111"/>
          <p:cNvSpPr txBox="1"/>
          <p:nvPr>
            <p:ph idx="1" type="body"/>
          </p:nvPr>
        </p:nvSpPr>
        <p:spPr>
          <a:xfrm>
            <a:off x="343303" y="1269145"/>
            <a:ext cx="44055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No polling o bot fica perguntando o tempo todo: “Tem mensagem nova? Tem mensagem nova?”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Consome mais recursos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Menos eficiente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Maior latência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0" name="Google Shape;160;g39a6acff8a6_0_111"/>
          <p:cNvSpPr txBox="1"/>
          <p:nvPr>
            <p:ph idx="4294967295" type="body"/>
          </p:nvPr>
        </p:nvSpPr>
        <p:spPr>
          <a:xfrm>
            <a:off x="5322352" y="1269145"/>
            <a:ext cx="44055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O telegram “avisa” o bot quando chega uma nova mensagem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Precisa de servidor público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Mais complexo de configurar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Exige HTTPs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a6acff8a6_0_116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Boas práticas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Escalabilidade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9a6acff8a6_0_116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Muitos usuários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Perfomance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Para códigos onde possuímos muitos usuários utilizando é preciso tomar alguns cuidados como: async, filas, cache, banco de dados e dividir serviços.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6acff8a6_0_121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Boas práticas </a:t>
            </a:r>
            <a:r>
              <a:rPr lang="en-US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>
                <a:latin typeface="Cinzel"/>
                <a:ea typeface="Cinzel"/>
                <a:cs typeface="Cinzel"/>
                <a:sym typeface="Cinzel"/>
              </a:rPr>
              <a:t> Limitações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a6acff8a6_0_121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Rate limit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Char char="-"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Dependências externas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Sempre é necessário se colocar um limite de mensagens que um usuário pode enviar por segundo ou quantas mensagens o bot responde por segundo.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b2f49fb61_0_5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Discussão e Q&amp;A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39b102941_1_211"/>
          <p:cNvSpPr txBox="1"/>
          <p:nvPr>
            <p:ph type="title"/>
          </p:nvPr>
        </p:nvSpPr>
        <p:spPr>
          <a:xfrm>
            <a:off x="343299" y="611850"/>
            <a:ext cx="4228800" cy="832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Cinzel"/>
                <a:ea typeface="Cinzel"/>
                <a:cs typeface="Cinzel"/>
                <a:sym typeface="Cinzel"/>
              </a:rPr>
              <a:t>Ficamos por aqui!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Cinzel"/>
                <a:ea typeface="Cinzel"/>
                <a:cs typeface="Cinzel"/>
                <a:sym typeface="Cinzel"/>
              </a:rPr>
              <a:t>QUalquer dúvida:</a:t>
            </a:r>
            <a:endParaRPr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83" name="Google Shape;183;g3a39b102941_1_211"/>
          <p:cNvSpPr txBox="1"/>
          <p:nvPr>
            <p:ph idx="1" type="body"/>
          </p:nvPr>
        </p:nvSpPr>
        <p:spPr>
          <a:xfrm>
            <a:off x="343299" y="1530275"/>
            <a:ext cx="4228800" cy="3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900">
                <a:latin typeface="Comfortaa"/>
                <a:ea typeface="Comfortaa"/>
                <a:cs typeface="Comfortaa"/>
                <a:sym typeface="Comfortaa"/>
              </a:rPr>
              <a:t>(31) 99998-1418</a:t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9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bernardocmfgomes@gmail.com</a:t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900">
                <a:latin typeface="Roboto Mono"/>
                <a:ea typeface="Roboto Mono"/>
                <a:cs typeface="Roboto Mono"/>
                <a:sym typeface="Roboto Mono"/>
              </a:rPr>
              <a:t>@bernardocastro___</a:t>
            </a:r>
            <a:endParaRPr sz="1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900">
                <a:latin typeface="Roboto Mono"/>
                <a:ea typeface="Roboto Mono"/>
                <a:cs typeface="Roboto Mono"/>
                <a:sym typeface="Roboto Mono"/>
              </a:rPr>
              <a:t>@bernardoxdev</a:t>
            </a:r>
            <a:endParaRPr sz="19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84" name="Google Shape;184;g3a39b102941_1_211" title="bernardodev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99" y="152400"/>
            <a:ext cx="5194200" cy="51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a39b102941_1_211"/>
          <p:cNvSpPr/>
          <p:nvPr/>
        </p:nvSpPr>
        <p:spPr>
          <a:xfrm>
            <a:off x="4740075" y="231025"/>
            <a:ext cx="5138400" cy="511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a39b102941_1_211" title="bernardodev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3800" y="231025"/>
            <a:ext cx="5115600" cy="51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